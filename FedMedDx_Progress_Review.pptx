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51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16"/>
          <p:cNvSpPr/>
          <p:nvPr/>
        </p:nvSpPr>
        <p:spPr>
          <a:xfrm>
            <a:off x="822960" y="324729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5F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PROGRESS REVIEW  —  STAGE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756725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 in Healthcare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822960" y="1661981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8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Multi-Disease Representation Learning on Unified Chest Radiography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22960" y="2119181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Federated Diagnostic AI Across Heterogeneous Hospital Datasets 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2960" y="3757283"/>
            <a:ext cx="10728374" cy="2343991"/>
          </a:xfrm>
          <a:prstGeom prst="roundRect">
            <a:avLst>
              <a:gd name="adj" fmla="val 6000"/>
            </a:avLst>
          </a:prstGeom>
          <a:solidFill>
            <a:srgbClr val="132A4C"/>
          </a:solidFill>
          <a:ln w="12700">
            <a:solidFill>
              <a:srgbClr val="24406A"/>
            </a:solidFill>
            <a:prstDash val="solid"/>
          </a:ln>
        </p:spPr>
        <p:txBody>
          <a:bodyPr anchor="b"/>
          <a:lstStyle/>
          <a:p>
            <a:pPr marL="342900" indent="-342900">
              <a:buAutoNum type="arabicPeriod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Jalpan Vyas 202307020048 (Team Leader) 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Hirva Desai 202307020029 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Gargee Rai 202307020043 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Smit Shah 202307020107 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Priyanka Patel 20230702008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25" name="Text 22"/>
          <p:cNvSpPr/>
          <p:nvPr/>
        </p:nvSpPr>
        <p:spPr>
          <a:xfrm>
            <a:off x="1920240" y="482803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457200" y="654710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FedMedDx</a:t>
            </a: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Multi-Disease Representation Learning on Unified CXR    |    Slide 1 of 17</a:t>
            </a:r>
            <a:endParaRPr lang="en-US" sz="9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46B867-0336-62DB-6EDE-244E91B08478}"/>
              </a:ext>
            </a:extLst>
          </p:cNvPr>
          <p:cNvSpPr txBox="1"/>
          <p:nvPr/>
        </p:nvSpPr>
        <p:spPr>
          <a:xfrm>
            <a:off x="9785252" y="286367"/>
            <a:ext cx="1766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CSE CORE SEM 7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ABBD64-DF21-BBC2-4F90-B0A0EEB3D2C7}"/>
              </a:ext>
            </a:extLst>
          </p:cNvPr>
          <p:cNvSpPr txBox="1"/>
          <p:nvPr/>
        </p:nvSpPr>
        <p:spPr>
          <a:xfrm>
            <a:off x="822960" y="2565011"/>
            <a:ext cx="94183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i="1" dirty="0" err="1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FedMedDx</a:t>
            </a:r>
            <a:r>
              <a:rPr lang="en-IN" sz="1400" i="1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decentralized, privacy-preserving medical imaging platform. It leverages Personalized Federated Learning (</a:t>
            </a:r>
            <a:r>
              <a:rPr lang="en-IN" sz="1400" i="1" dirty="0" err="1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</a:t>
            </a:r>
            <a:r>
              <a:rPr lang="en-IN" sz="1400" i="1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combining </a:t>
            </a:r>
            <a:r>
              <a:rPr lang="en-IN" sz="1400" i="1" dirty="0" err="1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FedRep</a:t>
            </a:r>
            <a:r>
              <a:rPr lang="en-IN" sz="1400" i="1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(Federated Representation Learning) and </a:t>
            </a:r>
            <a:r>
              <a:rPr lang="en-IN" sz="1400" i="1" dirty="0" err="1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FedBN</a:t>
            </a:r>
            <a:r>
              <a:rPr lang="en-IN" sz="1400" i="1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(Federated Batch Normalization) over a unified Chest X-Ray (CXR) modality.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D9209B-8676-5DBB-AE0D-1B1A388744E2}"/>
              </a:ext>
            </a:extLst>
          </p:cNvPr>
          <p:cNvSpPr txBox="1"/>
          <p:nvPr/>
        </p:nvSpPr>
        <p:spPr>
          <a:xfrm>
            <a:off x="822960" y="3756046"/>
            <a:ext cx="25701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Team - </a:t>
            </a:r>
            <a:r>
              <a:rPr lang="en-IN" sz="3600" b="1" dirty="0">
                <a:solidFill>
                  <a:schemeClr val="bg1"/>
                </a:solidFill>
              </a:rPr>
              <a:t>Aspis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E2CA10-4173-6D47-CC84-3D72C0531E71}"/>
              </a:ext>
            </a:extLst>
          </p:cNvPr>
          <p:cNvSpPr txBox="1"/>
          <p:nvPr/>
        </p:nvSpPr>
        <p:spPr>
          <a:xfrm>
            <a:off x="9073909" y="5639622"/>
            <a:ext cx="2334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Mentor - Bela </a:t>
            </a:r>
            <a:r>
              <a:rPr lang="en-US" b="1" dirty="0" err="1">
                <a:solidFill>
                  <a:schemeClr val="bg1"/>
                </a:solidFill>
              </a:rPr>
              <a:t>Shrimali</a:t>
            </a:r>
            <a:endParaRPr lang="en-IN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FEDMEDDX PROGRESS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Clinical Data Silo and Diagnostic Gap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6811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8ED"/>
            </a:solidFill>
            <a:prstDash val="solid"/>
          </a:ln>
          <a:effectLst>
            <a:outerShdw blurRad="101600" dist="25400" dir="5400000" algn="bl" rotWithShape="0">
              <a:srgbClr val="36517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91640"/>
            <a:ext cx="566928" cy="566928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6" name="Image 0" descr="icons/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182770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65192" y="161848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C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2404872"/>
            <a:ext cx="4919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Silos &amp; Privacy Regulations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77240" y="2880360"/>
            <a:ext cx="49194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health data regulations (HIPAA, GDPR) prohibit pooling raw patient scans into centralized cloud repositories, isolating diagnostic data inside local hospital firewalls.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90488" y="1417320"/>
            <a:ext cx="546811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8ED"/>
            </a:solidFill>
            <a:prstDash val="solid"/>
          </a:ln>
          <a:effectLst>
            <a:outerShdw blurRad="101600" dist="25400" dir="5400000" algn="bl" rotWithShape="0">
              <a:srgbClr val="365172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64808" y="1691640"/>
            <a:ext cx="566928" cy="566928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12" name="Image 1" descr="icons/hospit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871" y="1827703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652760" y="161848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C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6464808" y="2404872"/>
            <a:ext cx="4919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Radiology Workload &amp; Misdiagnosis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6464808" y="2880360"/>
            <a:ext cx="49194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radiography accounts for ~40% of all diagnostic imaging worldwide. High clinical caseloads contribute to an estimated 3–5% diagnostic error rate even among experienced radiologists.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02920" y="4005072"/>
            <a:ext cx="546811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8ED"/>
            </a:solidFill>
            <a:prstDash val="solid"/>
          </a:ln>
          <a:effectLst>
            <a:outerShdw blurRad="101600" dist="25400" dir="5400000" algn="bl" rotWithShape="0">
              <a:srgbClr val="365172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77240" y="4279392"/>
            <a:ext cx="566928" cy="566928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18" name="Image 2" descr="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303" y="4415455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65192" y="42062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C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5"/>
          <p:cNvSpPr/>
          <p:nvPr/>
        </p:nvSpPr>
        <p:spPr>
          <a:xfrm>
            <a:off x="777240" y="4992624"/>
            <a:ext cx="4919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Biased Local Datasets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777240" y="5468112"/>
            <a:ext cx="49194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hospital AI models overfit to local scanner hardware and patient demographics, causing severe generalization failures when evaluated on external clinical centers.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190488" y="4005072"/>
            <a:ext cx="546811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8ED"/>
            </a:solidFill>
            <a:prstDash val="solid"/>
          </a:ln>
          <a:effectLst>
            <a:outerShdw blurRad="101600" dist="25400" dir="5400000" algn="bl" rotWithShape="0">
              <a:srgbClr val="365172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64808" y="4279392"/>
            <a:ext cx="566928" cy="566928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24" name="Image 3" descr="icons/layerGrou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871" y="4415455"/>
            <a:ext cx="294803" cy="29480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652760" y="42062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C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6" name="Text 20"/>
          <p:cNvSpPr/>
          <p:nvPr/>
        </p:nvSpPr>
        <p:spPr>
          <a:xfrm>
            <a:off x="6464808" y="4992624"/>
            <a:ext cx="4919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Task Problem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6464808" y="5468112"/>
            <a:ext cx="49194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clinical centers specialize in different conditions (4-class COVID-19, binary pneumonia, binary TB). No conventional system federates across mismatched label spaces.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57200" y="654710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FedMedDx</a:t>
            </a: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Multi-Disease Representation Learning on Unified CXR    |    Slide 2 of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FEDMEDDX PROGRESS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Current Diagnostic &amp; FL Approaches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338560" cy="4087368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Privacy (HIPAA)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Heterogeneous Labels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Invariance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Cross-Hospital Benefit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Centralized ML Cloud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E85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data pooled externally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E83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unified multi-task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E85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Prone to batch effects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E83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access to all images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Isolated Local Training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E83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stays on-premise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E83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local labels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E85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Overfits to local scanner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E85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shared intelligence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FedAvg (McMahan 2017)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E83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gradients shared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E85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identical output dim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E85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norm drift across sites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D99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Crashes on label mismatch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E83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FedMedDx (FedRep + FedBN)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E83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 zero-image sharing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E83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Decoupled private heads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E83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BN absorbs site noise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E83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Universal pulmonary features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4710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FedMedDx</a:t>
            </a: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Multi-Disease Representation Learning on Unified CXR    |    Slide 3 of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FEDMEDDX PROGRESS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Solution: Decoupled Personalized Federated Learning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602736" cy="4160520"/>
          </a:xfrm>
          <a:prstGeom prst="roundRect">
            <a:avLst>
              <a:gd name="adj" fmla="val 2030"/>
            </a:avLst>
          </a:prstGeom>
          <a:solidFill>
            <a:srgbClr val="FFFFFF"/>
          </a:solidFill>
          <a:ln w="12700">
            <a:solidFill>
              <a:srgbClr val="E4E8ED"/>
            </a:solidFill>
            <a:prstDash val="solid"/>
          </a:ln>
          <a:effectLst>
            <a:outerShdw blurRad="101600" dist="25400" dir="5400000" algn="bl" rotWithShape="0">
              <a:srgbClr val="36517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15668" y="1892808"/>
            <a:ext cx="777240" cy="777240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6" name="Image 0" descr="icons/networkWi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206" y="2079346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926080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3227832"/>
            <a:ext cx="30540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ResNet-18 Backbone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1984248" y="3959352"/>
            <a:ext cx="640080" cy="0"/>
          </a:xfrm>
          <a:prstGeom prst="line">
            <a:avLst/>
          </a:prstGeom>
          <a:noFill/>
          <a:ln w="19050">
            <a:solidFill>
              <a:srgbClr val="DCE4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114800"/>
            <a:ext cx="296265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layers (conv1 through layer4) are collaboratively trained across all hospitals to learn universal pulmonary visual representations: infiltrates, consolidations, opacities, and pleural line patterns.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88536" y="1508760"/>
            <a:ext cx="3602736" cy="4160520"/>
          </a:xfrm>
          <a:prstGeom prst="roundRect">
            <a:avLst>
              <a:gd name="adj" fmla="val 2030"/>
            </a:avLst>
          </a:prstGeom>
          <a:solidFill>
            <a:srgbClr val="FFFFFF"/>
          </a:solidFill>
          <a:ln w="12700">
            <a:solidFill>
              <a:srgbClr val="E4E8ED"/>
            </a:solidFill>
            <a:prstDash val="solid"/>
          </a:ln>
          <a:effectLst>
            <a:outerShdw blurRad="101600" dist="25400" dir="5400000" algn="bl" rotWithShape="0">
              <a:srgbClr val="365172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01284" y="1892808"/>
            <a:ext cx="777240" cy="777240"/>
          </a:xfrm>
          <a:prstGeom prst="ellipse">
            <a:avLst/>
          </a:prstGeom>
          <a:solidFill>
            <a:srgbClr val="E85D3F"/>
          </a:solidFill>
          <a:ln/>
        </p:spPr>
      </p:sp>
      <p:pic>
        <p:nvPicPr>
          <p:cNvPr id="13" name="Image 1" descr="icons/user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7822" y="2079346"/>
            <a:ext cx="404165" cy="40416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17136" y="2926080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E85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02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62856" y="3227832"/>
            <a:ext cx="30540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Local Heads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5769864" y="3959352"/>
            <a:ext cx="640080" cy="0"/>
          </a:xfrm>
          <a:prstGeom prst="line">
            <a:avLst/>
          </a:prstGeom>
          <a:noFill/>
          <a:ln w="19050">
            <a:solidFill>
              <a:srgbClr val="DCE4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608576" y="4114800"/>
            <a:ext cx="296265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layers (W_fc) remain 100% private to each hospital client. Fully resolves the dimension mismatch between 4-class COVID-19 and binary screening models. Head weights are cached across rounds.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074152" y="1508760"/>
            <a:ext cx="3602736" cy="4160520"/>
          </a:xfrm>
          <a:prstGeom prst="roundRect">
            <a:avLst>
              <a:gd name="adj" fmla="val 2030"/>
            </a:avLst>
          </a:prstGeom>
          <a:solidFill>
            <a:srgbClr val="FFFFFF"/>
          </a:solidFill>
          <a:ln w="12700">
            <a:solidFill>
              <a:srgbClr val="E4E8ED"/>
            </a:solidFill>
            <a:prstDash val="solid"/>
          </a:ln>
          <a:effectLst>
            <a:outerShdw blurRad="101600" dist="25400" dir="5400000" algn="bl" rotWithShape="0">
              <a:srgbClr val="365172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486900" y="1892808"/>
            <a:ext cx="777240" cy="777240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20" name="Image 2" descr="icons/waveSqua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3438" y="2079346"/>
            <a:ext cx="404165" cy="40416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02752" y="2926080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03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348472" y="3227832"/>
            <a:ext cx="30540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Batch Normalization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9555480" y="3959352"/>
            <a:ext cx="640080" cy="0"/>
          </a:xfrm>
          <a:prstGeom prst="line">
            <a:avLst/>
          </a:prstGeom>
          <a:noFill/>
          <a:ln w="19050">
            <a:solidFill>
              <a:srgbClr val="DCE4EA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394192" y="4114800"/>
            <a:ext cx="296265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FedBN (Li et al., ICLR 2021). Batch-normalization running mean and variance are kept strictly local on each client PC, preventing domain drift from differing X-ray scanner calibrations.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457200" y="654710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FedMedDx</a:t>
            </a: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Multi-Disease Representation Learning on Unified CXR    |    Slide 4 of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FEDMEDDX PROGRESS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311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8ED"/>
            </a:solidFill>
            <a:prstDash val="solid"/>
          </a:ln>
          <a:effectLst>
            <a:outerShdw blurRad="101600" dist="25400" dir="5400000" algn="bl" rotWithShape="0">
              <a:srgbClr val="36517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18488"/>
            <a:ext cx="512064" cy="512064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184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508760"/>
            <a:ext cx="99943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1: Core Federated Engine   </a:t>
            </a: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and verify a decoupled FedRep + FedBN aggregation engine using the Flower NumPy client, supporting non-IID Dirichlet partitioning and checkpoint persistence.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2020824"/>
            <a:ext cx="999439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End-to-end simulation passing 20 rounds with zero tensor dimension mismatch errors.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432304"/>
            <a:ext cx="1118311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8ED"/>
            </a:solidFill>
            <a:prstDash val="solid"/>
          </a:ln>
          <a:effectLst>
            <a:outerShdw blurRad="101600" dist="25400" dir="5400000" algn="bl" rotWithShape="0">
              <a:srgbClr val="365172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633472"/>
            <a:ext cx="512064" cy="512064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3347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9943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2: 4 Verified Disease Modules   </a:t>
            </a: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four modular CXR disease pipelines (COVID-19 4-class, Pneumonia binary, TB binary, Pediatric binary) adhering strictly to the CONTRACT.md standard.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035808"/>
            <a:ext cx="999439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100% modular compliance with get_model, train_one_round, evaluate, explain methods.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447288"/>
            <a:ext cx="1118311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8ED"/>
            </a:solidFill>
            <a:prstDash val="solid"/>
          </a:ln>
          <a:effectLst>
            <a:outerShdw blurRad="101600" dist="25400" dir="5400000" algn="bl" rotWithShape="0">
              <a:srgbClr val="365172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648456"/>
            <a:ext cx="512064" cy="512064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64845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3538728"/>
            <a:ext cx="99943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3: Accuracy Improvement over Local-Only   </a:t>
            </a: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that personalized federated training yields higher classification accuracy and F1-score than standalone local training on small hospital partitions.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050792"/>
            <a:ext cx="999439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Benchmark accuracy improvement target &gt; 5–10% across heterogeneous partitions.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4462272"/>
            <a:ext cx="1118311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8ED"/>
            </a:solidFill>
            <a:prstDash val="solid"/>
          </a:ln>
          <a:effectLst>
            <a:outerShdw blurRad="101600" dist="25400" dir="5400000" algn="bl" rotWithShape="0">
              <a:srgbClr val="365172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4663440"/>
            <a:ext cx="512064" cy="512064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6634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4553712"/>
            <a:ext cx="99943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4: Distributed Multi-Node LAN Execution   </a:t>
            </a: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federated training across 4 physical participant computers connected over local Wi-Fi gRPC without centralized data leakage.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17320" y="5065776"/>
            <a:ext cx="999439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Zero raw image transmission; only filtered 11.1M backbone weights exchanged.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5477256"/>
            <a:ext cx="1118311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8ED"/>
            </a:solidFill>
            <a:prstDash val="solid"/>
          </a:ln>
          <a:effectLst>
            <a:outerShdw blurRad="101600" dist="25400" dir="5400000" algn="bl" rotWithShape="0">
              <a:srgbClr val="365172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5678424"/>
            <a:ext cx="512064" cy="512064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67842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17320" y="5568696"/>
            <a:ext cx="99943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5: Clinical Explainability Integration   </a:t>
            </a: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Grad-CAM visualization into each module to provide visual heatmaps confirming the model attends to pathological lung regions rather than background artifacts.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17320" y="6080760"/>
            <a:ext cx="999439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High-resolution class-discriminative heatmap generated per scan in &lt; 200ms.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54710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FedMedDx</a:t>
            </a: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Multi-Disease Representation Learning on Unified CXR    |    Slide 5 of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FEDMEDDX PROGRESS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 and Explicit Boundaries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68112" cy="4251960"/>
          </a:xfrm>
          <a:prstGeom prst="roundRect">
            <a:avLst>
              <a:gd name="adj" fmla="val 1935"/>
            </a:avLst>
          </a:prstGeom>
          <a:solidFill>
            <a:srgbClr val="E6F3F2"/>
          </a:solidFill>
          <a:ln w="12700">
            <a:solidFill>
              <a:srgbClr val="0E83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1673352"/>
            <a:ext cx="457200" cy="457200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6" name="Image 0" descr="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822" y="1776222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73352"/>
            <a:ext cx="4370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  ·  Delivered in 14-Day Sprint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95528" y="2331720"/>
            <a:ext cx="491947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2D chest radiography (224×224 RGB, PNG/JPEG)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verified public datasets (COVID, Pneumonia, TB, Pediatric)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 backbone with task-specific classification heads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FedRep alternating local training + FedAvg backbone aggregation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FedBN local batch normalization to absorb scanner drift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Non-IID Dirichlet partitioning (alpha = 0.5) simulation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 gRPC LAN distributed network protocol (port 8080)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experiment database logging round metrics and runs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visual heatmap overlay generation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99632" y="1417320"/>
            <a:ext cx="5468112" cy="4251960"/>
          </a:xfrm>
          <a:prstGeom prst="roundRect">
            <a:avLst>
              <a:gd name="adj" fmla="val 1935"/>
            </a:avLst>
          </a:prstGeom>
          <a:solidFill>
            <a:srgbClr val="FDEAE5"/>
          </a:solidFill>
          <a:ln w="12700">
            <a:solidFill>
              <a:srgbClr val="E85D3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55664" y="1673352"/>
            <a:ext cx="457200" cy="457200"/>
          </a:xfrm>
          <a:prstGeom prst="ellipse">
            <a:avLst/>
          </a:prstGeom>
          <a:solidFill>
            <a:srgbClr val="E85D3F"/>
          </a:solidFill>
          <a:ln/>
        </p:spPr>
      </p:sp>
      <p:pic>
        <p:nvPicPr>
          <p:cNvPr id="11" name="Image 1" descr="icons/times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534" y="1776222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68312" y="1673352"/>
            <a:ext cx="4370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 ·  Deferred / Future Work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92240" y="2331720"/>
            <a:ext cx="491947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85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DICOM header parsing and 3D volumetric CT/MRI reconstruction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85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Multi-organ cross-modality learning (brain MRI, retinal, skin)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85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secure aggregation (SecAgg) protocol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85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differential privacy (DP-SGD) with noise injection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85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cloud deployment (AWS/GCP Kubernetes clusters)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85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hospital EHR/PACS integration and IRB patient data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85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device regulatory compliance (FDA 510(k), CE mark)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85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/ embedded on-device inference optimization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57200" y="654710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FedMedDx</a:t>
            </a: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Multi-Disease Representation Learning on Unified CXR    |    Slide 6 of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FEDMEDDX PROGRESS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Architecture: 3-Tier Layered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3112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E4E8ED"/>
            </a:solidFill>
            <a:prstDash val="solid"/>
          </a:ln>
          <a:effectLst>
            <a:outerShdw blurRad="88900" dist="25400" dir="5400000" algn="bl" rotWithShape="0">
              <a:srgbClr val="36517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298448"/>
            <a:ext cx="11183112" cy="438912"/>
          </a:xfrm>
          <a:prstGeom prst="roundRect">
            <a:avLst>
              <a:gd name="adj" fmla="val 14583"/>
            </a:avLst>
          </a:prstGeom>
          <a:solidFill>
            <a:srgbClr val="0E8388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517904"/>
            <a:ext cx="11183112" cy="219456"/>
          </a:xfrm>
          <a:prstGeom prst="rect">
            <a:avLst/>
          </a:prstGeom>
          <a:solidFill>
            <a:srgbClr val="0E8388"/>
          </a:solidFill>
          <a:ln/>
        </p:spPr>
      </p:sp>
      <p:pic>
        <p:nvPicPr>
          <p:cNvPr id="7" name="Image 0" descr="icons/fileMedi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1399032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298448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011680" y="1298448"/>
            <a:ext cx="9445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Data Layer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95528" y="1828800"/>
            <a:ext cx="10597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independent, unshared chest X-ray datasets located on client hospital PCs.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95528" y="2103120"/>
            <a:ext cx="1059789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1: COVID-19 Radiography (4 classes, PNG)</a:t>
            </a:r>
            <a:endParaRPr lang="en-US" sz="115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2: RSNA / Mooney Adult Pneumonia (2 classes, JPEG)</a:t>
            </a:r>
            <a:endParaRPr lang="en-US" sz="115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3: TB Chest X-Ray Database (2 classes, PNG)</a:t>
            </a:r>
            <a:endParaRPr lang="en-US" sz="115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4: Pediatric Pneumonia Database (2 classes, JPEG)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02920" y="3072384"/>
            <a:ext cx="11183112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E4E8ED"/>
            </a:solidFill>
            <a:prstDash val="solid"/>
          </a:ln>
          <a:effectLst>
            <a:outerShdw blurRad="88900" dist="25400" dir="5400000" algn="bl" rotWithShape="0">
              <a:srgbClr val="365172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02920" y="3072384"/>
            <a:ext cx="11183112" cy="438912"/>
          </a:xfrm>
          <a:prstGeom prst="roundRect">
            <a:avLst>
              <a:gd name="adj" fmla="val 14583"/>
            </a:avLst>
          </a:prstGeom>
          <a:solidFill>
            <a:srgbClr val="E85D3F"/>
          </a:solidFill>
          <a:ln/>
        </p:spPr>
      </p:sp>
      <p:sp>
        <p:nvSpPr>
          <p:cNvPr id="14" name="Shape 11"/>
          <p:cNvSpPr/>
          <p:nvPr/>
        </p:nvSpPr>
        <p:spPr>
          <a:xfrm>
            <a:off x="502920" y="3291840"/>
            <a:ext cx="11183112" cy="219456"/>
          </a:xfrm>
          <a:prstGeom prst="rect">
            <a:avLst/>
          </a:prstGeom>
          <a:solidFill>
            <a:srgbClr val="E85D3F"/>
          </a:solidFill>
          <a:ln/>
        </p:spPr>
      </p:sp>
      <p:pic>
        <p:nvPicPr>
          <p:cNvPr id="15" name="Image 1" descr="icons/laptop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317296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97280" y="3072384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011680" y="3072384"/>
            <a:ext cx="9445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Node Execution Layer (Local Hospital PCs)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795528" y="3602736"/>
            <a:ext cx="10597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CONTRACT.md interface: 224×224 RGB image transformation.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795528" y="3877056"/>
            <a:ext cx="1059789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 shared backbone (parameters extracted for aggregation)</a:t>
            </a:r>
            <a:endParaRPr lang="en-US" sz="115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head checkpoint: client_{id}_head.pth (never transmitted)</a:t>
            </a:r>
            <a:endParaRPr lang="en-US" sz="115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batch-normalization statistics (FedBN absorbs scanner drift)</a:t>
            </a:r>
            <a:endParaRPr lang="en-US" sz="115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engine: layer4[-1] gradient activations for heatmaps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02920" y="4846320"/>
            <a:ext cx="11183112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E4E8ED"/>
            </a:solidFill>
            <a:prstDash val="solid"/>
          </a:ln>
          <a:effectLst>
            <a:outerShdw blurRad="88900" dist="25400" dir="5400000" algn="bl" rotWithShape="0">
              <a:srgbClr val="365172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02920" y="4846320"/>
            <a:ext cx="11183112" cy="438912"/>
          </a:xfrm>
          <a:prstGeom prst="roundRect">
            <a:avLst>
              <a:gd name="adj" fmla="val 14583"/>
            </a:avLst>
          </a:prstGeom>
          <a:solidFill>
            <a:srgbClr val="0B1F3A"/>
          </a:solidFill>
          <a:ln/>
        </p:spPr>
      </p:sp>
      <p:sp>
        <p:nvSpPr>
          <p:cNvPr id="22" name="Shape 18"/>
          <p:cNvSpPr/>
          <p:nvPr/>
        </p:nvSpPr>
        <p:spPr>
          <a:xfrm>
            <a:off x="502920" y="5065776"/>
            <a:ext cx="11183112" cy="219456"/>
          </a:xfrm>
          <a:prstGeom prst="rect">
            <a:avLst/>
          </a:prstGeom>
          <a:solidFill>
            <a:srgbClr val="0B1F3A"/>
          </a:solidFill>
          <a:ln/>
        </p:spPr>
      </p:sp>
      <p:pic>
        <p:nvPicPr>
          <p:cNvPr id="23" name="Image 2" descr="icons/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4946904"/>
            <a:ext cx="256032" cy="25603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097280" y="4846320"/>
            <a:ext cx="914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2011680" y="4846320"/>
            <a:ext cx="9445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Aggregation &amp; Logging Layer (Coordinator PC)</a:t>
            </a:r>
            <a:endParaRPr lang="en-US" sz="1450" dirty="0"/>
          </a:p>
        </p:txBody>
      </p:sp>
      <p:sp>
        <p:nvSpPr>
          <p:cNvPr id="26" name="Text 21"/>
          <p:cNvSpPr/>
          <p:nvPr/>
        </p:nvSpPr>
        <p:spPr>
          <a:xfrm>
            <a:off x="795528" y="5376672"/>
            <a:ext cx="10597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 gRPC server (0.0.0.0:8080) orchestrating rounds.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795528" y="5650992"/>
            <a:ext cx="1059789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filter: excludes 'fc', 'bn', and 'downsample.1' weights</a:t>
            </a:r>
            <a:endParaRPr lang="en-US" sz="115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Averaging (FedAvg) on the shared convolutional backbone</a:t>
            </a:r>
            <a:endParaRPr lang="en-US" sz="115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 (results/fedmeddx_experiments.db) for experiment auditing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457200" y="654710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FedMedDx</a:t>
            </a: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Multi-Disease Representation Learning on Unified CXR    |    Slide 7 of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FEDMEDDX PROGRESS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&amp; Technical Justification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4526280"/>
        </p:xfrm>
        <a:graphic>
          <a:graphicData uri="http://schemas.openxmlformats.org/drawingml/2006/table">
            <a:tbl>
              <a:tblPr/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33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 / 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Selected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Rationale &amp; Justification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 &amp; Runtime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E83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3.10+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 library ecosystem for scientific computing, PyTorch, and Flower compatibility.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 Framework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E83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PyTorch 2.0+ &amp; Torchvision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computation graph, native CUDA acceleration, industry standard for medical imaging.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Federated Learning 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E83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Flower (flwr 1.5+)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Lightweight gRPC client-server transport; NumPy client API allows clean parameter filtering.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Backbone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E83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ResNet-18 (ImageNet Pretrained)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11.7M parameters; optimal balance between feature capacity and low VRAM footprint on consumer GPUs.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Explainability Engine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E83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Grad-CAM (grad-cam 1.4+)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Extracts activation maps from layer4 to highlight anatomical pathology regions for radiologists.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&amp; Experiment Logging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E83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3 &amp; Pandas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Zero-dependency embedded SQL database; logs run metadata, hospital metrics, and loss curves.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4710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FedMedDx</a:t>
            </a: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Multi-Disease Representation Learning on Unified CXR    |    Slide 8 of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FEDMEDDX PROGRESS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Breakdown and Team Responsibilities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183112" cy="480060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Path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Assigned 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Functionality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federated/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(server, client, wrapper, db)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E83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Jalpan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E83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(Core Lead)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Orchestrates Flower server, FedRep aggregation, SQLite logging, head checkpointing.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11.1M Backbone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modules/covid_module.py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E83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Priyanka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E83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(Client 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COVID-19 Radiography pipeline, 4-class head, Dirichlet non-IID data partitioning.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× 4 Classes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modules/pneumonia_module.py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E83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Gargee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E83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(Client 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RSNA Adult Pneumonia binary classification pipeline and local training loop.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× 2 Classes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modules/tb_module.py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E83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E83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(Client 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Tuberculosis screening pipeline, class-weighted cross-entropy loss calculation.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× 2 Classes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modules/pediatric_module.py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E83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Hirva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E83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(Client 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Pediatric Pneumonia binary classification (5,856 CXR images, Guangzhou Women's Hospital).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× 2 Classes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4710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FedMedDx</a:t>
            </a: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Multi-Disease Representation Learning on Unified CXR    |    Slide 9 of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FEDMEDDX PROGRESS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FedRep Alternating Optimization + Parameter Filtering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532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FedRep Alternating Optimization  (Round t)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801368"/>
            <a:ext cx="310896" cy="31089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8013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2112264"/>
            <a:ext cx="0" cy="402336"/>
          </a:xfrm>
          <a:prstGeom prst="line">
            <a:avLst/>
          </a:prstGeom>
          <a:noFill/>
          <a:ln w="15875">
            <a:solidFill>
              <a:srgbClr val="CBD5DF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960120" y="1755648"/>
            <a:ext cx="50749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Broadcast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Central server sends current aggregated backbone θ(t) to all clients.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514600"/>
            <a:ext cx="310896" cy="31089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5146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" y="2825496"/>
            <a:ext cx="0" cy="402336"/>
          </a:xfrm>
          <a:prstGeom prst="line">
            <a:avLst/>
          </a:prstGeom>
          <a:noFill/>
          <a:ln w="15875">
            <a:solidFill>
              <a:srgbClr val="CBD5DF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960120" y="2468880"/>
            <a:ext cx="50749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Local Head Update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Client freezes the backbone θ. Trains local head w_i on local data for E_head epochs using Adam.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227832"/>
            <a:ext cx="310896" cy="31089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2278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" y="3538728"/>
            <a:ext cx="0" cy="402336"/>
          </a:xfrm>
          <a:prstGeom prst="line">
            <a:avLst/>
          </a:prstGeom>
          <a:noFill/>
          <a:ln w="15875">
            <a:solidFill>
              <a:srgbClr val="CBD5DF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960120" y="3182112"/>
            <a:ext cx="50749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Local Representation Update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Client unfreezes θ and computes gradients on local data for E_rep epochs to adapt representation.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941064"/>
            <a:ext cx="310896" cy="31089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9410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" y="4251960"/>
            <a:ext cx="0" cy="402336"/>
          </a:xfrm>
          <a:prstGeom prst="line">
            <a:avLst/>
          </a:prstGeom>
          <a:noFill/>
          <a:ln w="15875">
            <a:solidFill>
              <a:srgbClr val="CBD5DF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960120" y="3895344"/>
            <a:ext cx="50749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Extraction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Client extracts ONLY shared backbone parameters, filtering out fc and bn weights.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4654296"/>
            <a:ext cx="310896" cy="31089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6542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8368" y="4965192"/>
            <a:ext cx="0" cy="402336"/>
          </a:xfrm>
          <a:prstGeom prst="line">
            <a:avLst/>
          </a:prstGeom>
          <a:noFill/>
          <a:ln w="15875">
            <a:solidFill>
              <a:srgbClr val="CBD5DF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960120" y="4608576"/>
            <a:ext cx="50749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FedAvg Aggregation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Server computes weighted average: θ(t+1) = Σ (n_i / n) · θ_i.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5367528"/>
            <a:ext cx="310896" cy="310896"/>
          </a:xfrm>
          <a:prstGeom prst="ellipse">
            <a:avLst/>
          </a:prstGeom>
          <a:solidFill>
            <a:srgbClr val="0E8388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53675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0120" y="5321808"/>
            <a:ext cx="50749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Persistence</a:t>
            </a: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Local head w_i is saved to checkpoints/client_{id}_head.pth for the next round.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63640" y="1417320"/>
            <a:ext cx="5422392" cy="4892040"/>
          </a:xfrm>
          <a:prstGeom prst="roundRect">
            <a:avLst>
              <a:gd name="adj" fmla="val 1495"/>
            </a:avLst>
          </a:prstGeom>
          <a:solidFill>
            <a:srgbClr val="132A4C"/>
          </a:solidFill>
          <a:ln/>
        </p:spPr>
      </p:sp>
      <p:sp>
        <p:nvSpPr>
          <p:cNvPr id="29" name="Text 27"/>
          <p:cNvSpPr/>
          <p:nvPr/>
        </p:nvSpPr>
        <p:spPr>
          <a:xfrm>
            <a:off x="6556248" y="1645920"/>
            <a:ext cx="48737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Parameter Filtering Rule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56248" y="1965960"/>
            <a:ext cx="4873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Implemented in federated/client_wrapper.py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556248" y="2286000"/>
            <a:ext cx="4837176" cy="1417320"/>
          </a:xfrm>
          <a:prstGeom prst="roundRect">
            <a:avLst>
              <a:gd name="adj" fmla="val 3226"/>
            </a:avLst>
          </a:prstGeom>
          <a:solidFill>
            <a:srgbClr val="0A1830"/>
          </a:solidFill>
          <a:ln w="12700">
            <a:solidFill>
              <a:srgbClr val="1F355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0" y="2404872"/>
            <a:ext cx="44622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FD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_is_shared_param(name: str) -&gt; bool:
</a:t>
            </a:r>
            <a:r>
              <a:rPr lang="en-US" sz="1050" dirty="0">
                <a:solidFill>
                  <a:srgbClr val="6C82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Exclude classification head &amp; batch norm
</a:t>
            </a:r>
            <a:r>
              <a:rPr lang="en-US" sz="10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'fc' in name: return </a:t>
            </a:r>
            <a:r>
              <a:rPr lang="en-US" sz="1050" dirty="0">
                <a:solidFill>
                  <a:srgbClr val="E85D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
</a:t>
            </a:r>
            <a:r>
              <a:rPr lang="en-US" sz="10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'bn' in name: return </a:t>
            </a:r>
            <a:r>
              <a:rPr lang="en-US" sz="1050" dirty="0">
                <a:solidFill>
                  <a:srgbClr val="E85D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
</a:t>
            </a:r>
            <a:r>
              <a:rPr lang="en-US" sz="10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'downsample.1' in name: return </a:t>
            </a:r>
            <a:r>
              <a:rPr lang="en-US" sz="1050" dirty="0">
                <a:solidFill>
                  <a:srgbClr val="E85D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
</a:t>
            </a:r>
            <a:r>
              <a:rPr lang="en-US" sz="1050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r>
              <a:rPr lang="en-US" sz="1050" dirty="0">
                <a:solidFill>
                  <a:srgbClr val="0E83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56248" y="3904488"/>
            <a:ext cx="4873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F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TO SERVER  ·  11.1M PARAMS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556248" y="4160520"/>
            <a:ext cx="48737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4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conv1, layer1.*.conv*, layer2.*.conv*, layer3.*.conv*, layer4.*.conv*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556248" y="4727448"/>
            <a:ext cx="4837176" cy="0"/>
          </a:xfrm>
          <a:prstGeom prst="line">
            <a:avLst/>
          </a:prstGeom>
          <a:noFill/>
          <a:ln w="12700">
            <a:solidFill>
              <a:srgbClr val="24406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56248" y="4873752"/>
            <a:ext cx="4873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9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100% LOCAL &amp; PRIVATE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556248" y="5129784"/>
            <a:ext cx="48737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7D4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fc.weight, fc.bias  (different per hospital)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7D4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bn*.running_mean, bn*.running_var  (FedBN)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57200" y="654710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FedMedDx</a:t>
            </a: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Multi-Disease Representation Learning on Unified CXR    |    Slide 10 of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FEDMEDDX PROGRESS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 Since 1st Review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68112" cy="2450592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4E8ED"/>
            </a:solidFill>
            <a:prstDash val="solid"/>
          </a:ln>
          <a:effectLst>
            <a:outerShdw blurRad="101600" dist="25400" dir="5400000" algn="bl" rotWithShape="0">
              <a:srgbClr val="36517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655064"/>
            <a:ext cx="457200" cy="457200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6" name="Image 0" descr="icons/networkWi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822" y="1757934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62456" y="1655064"/>
            <a:ext cx="4370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Core Engine Built &amp; Verified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95528" y="2258568"/>
            <a:ext cx="4919472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federated/server.py — standalone Flower server, port 8080, metric aggregation</a:t>
            </a:r>
            <a:endParaRPr lang="en-US" sz="105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federated/client_wrapper.py — FedRep client, head checkpointing, CUDA cache clearing</a:t>
            </a:r>
            <a:endParaRPr lang="en-US" sz="105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federated/run_fedavg.py — sequential simulation engine, no Ray overhead</a:t>
            </a:r>
            <a:endParaRPr lang="en-US" sz="105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federated/db.py — SQLite schema logging runs and round-by-round metrics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90488" y="1417320"/>
            <a:ext cx="5468112" cy="2450592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4E8ED"/>
            </a:solidFill>
            <a:prstDash val="solid"/>
          </a:ln>
          <a:effectLst>
            <a:outerShdw blurRad="101600" dist="25400" dir="5400000" algn="bl" rotWithShape="0">
              <a:srgbClr val="365172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1655064"/>
            <a:ext cx="457200" cy="457200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11" name="Image 1" descr="icons/cub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9390" y="1757934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50024" y="1655064"/>
            <a:ext cx="4370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Verified Disease Modules Implemented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83096" y="2258568"/>
            <a:ext cx="4919472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modules/covid_module.py (Priyanka) — 4-class COVID-19 Radiography pipeline</a:t>
            </a:r>
            <a:endParaRPr lang="en-US" sz="105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modules/pneumonia_module.py (Gargee) — binary Adult Pneumonia detection</a:t>
            </a:r>
            <a:endParaRPr lang="en-US" sz="105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modules/tb_module.py (Smit) — binary Tuberculosis screening pipeline</a:t>
            </a:r>
            <a:endParaRPr lang="en-US" sz="105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modules/pediatric_module.py (Hirva) — Pediatric Pneumonia (tolgadincer Kaggle set)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2920" y="4050792"/>
            <a:ext cx="5468112" cy="2450592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4E8ED"/>
            </a:solidFill>
            <a:prstDash val="solid"/>
          </a:ln>
          <a:effectLst>
            <a:outerShdw blurRad="101600" dist="25400" dir="5400000" algn="bl" rotWithShape="0">
              <a:srgbClr val="365172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58952" y="4288536"/>
            <a:ext cx="457200" cy="457200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16" name="Image 2" descr="icons/clipboard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822" y="4391406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62456" y="4288536"/>
            <a:ext cx="4370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Technical Documentation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795528" y="4892040"/>
            <a:ext cx="4919472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CONTRACT.md — standardized interface specification for disease modules</a:t>
            </a:r>
            <a:endParaRPr lang="en-US" sz="105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FEDERATED_LEARNING_PROPOSAL.md — research proposal with mathematical proofs</a:t>
            </a:r>
            <a:endParaRPr lang="en-US" sz="105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DATASET_GUIDE.md &amp; MODALITY_MODULES.md — detailed developer walkthroughs</a:t>
            </a:r>
            <a:endParaRPr lang="en-US" sz="105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Wiki — fully synchronized documentation available online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190488" y="4050792"/>
            <a:ext cx="5468112" cy="2450592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4E8ED"/>
            </a:solidFill>
            <a:prstDash val="solid"/>
          </a:ln>
          <a:effectLst>
            <a:outerShdw blurRad="101600" dist="25400" dir="5400000" algn="bl" rotWithShape="0">
              <a:srgbClr val="365172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4288536"/>
            <a:ext cx="457200" cy="457200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21" name="Image 3" descr="icons/task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9390" y="4391406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50024" y="4288536"/>
            <a:ext cx="4370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Project Management Configured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483096" y="4892040"/>
            <a:ext cx="4919472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color-coded GitHub issues created and assigned to team members</a:t>
            </a:r>
            <a:endParaRPr lang="en-US" sz="105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 by domain (COVID-CXR, Pneumonia-CXR, TB-CXR, Pediatric-CXR, Core-Lead)</a:t>
            </a:r>
            <a:endParaRPr lang="en-US" sz="1050" dirty="0"/>
          </a:p>
          <a:p>
            <a:pPr marL="152400" indent="-152400">
              <a:lnSpc>
                <a:spcPct val="108000"/>
              </a:lnSpc>
              <a:buSzPct val="100000"/>
              <a:buChar char="•"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labels assigned from Day 1–2 to Day 13–14 for milestone tracking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457200" y="654710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FedMedDx</a:t>
            </a: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Multi-Disease Representation Learning on Unified CXR    |    Slide 11 of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FEDMEDDX PROGRESS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14-Day Sprint Schedule &amp; Milestones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83112" cy="4736592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5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&amp; Timeline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Tasks &amp; Deliverables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Assigned Team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(Day 1–2)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 API setup, dataset download, data inspection, directory creation.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Team Members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E83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 </a:t>
                      </a:r>
                      <a:r>
                        <a:rPr lang="en-US" sz="1050" b="1" dirty="0">
                          <a:solidFill>
                            <a:srgbClr val="0E83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(Day 3–4)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preprocessing pipeline (224×224 RGB), centralized PyTorch baseline.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Priyanka, Gargee, Smit, Hirva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E83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 </a:t>
                      </a:r>
                      <a:r>
                        <a:rPr lang="en-US" sz="1050" b="1" dirty="0">
                          <a:solidFill>
                            <a:srgbClr val="0E83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(Day 5–6)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CONTRACT.md implementation (get_model, train_one_round, evaluate, explain).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Priyanka, Gargee, Smit, Hirva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E83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 </a:t>
                      </a:r>
                      <a:r>
                        <a:rPr lang="en-US" sz="1050" b="1" dirty="0">
                          <a:solidFill>
                            <a:srgbClr val="0E83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(Day 7–8)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FedRep simulation engine, parameter filtering, SQLite logging, head checkpointing.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Jalpan (Core Lead)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E83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 </a:t>
                      </a:r>
                      <a:r>
                        <a:rPr lang="en-US" sz="1050" b="1" dirty="0">
                          <a:solidFill>
                            <a:srgbClr val="0E83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(Day 9–10)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Distributed LAN execution across 4 physical PCs via Flower gRPC (port 8080).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Team Members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85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 </a:t>
                      </a:r>
                      <a:r>
                        <a:rPr lang="en-US" sz="1050" b="1" dirty="0">
                          <a:solidFill>
                            <a:srgbClr val="E85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(Day 11–12)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Non-IID Dirichlet robustness sweep (alpha = 0.1, 0.5, 1.0) &amp; Grad-CAM validation.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Team Members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A97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 </a:t>
                      </a:r>
                      <a:r>
                        <a:rPr lang="en-US" sz="1050" b="1" dirty="0">
                          <a:solidFill>
                            <a:srgbClr val="8A97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UPCOMING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(Day 13–14)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 demo dashboard, final report generation, presentation rehearsals.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Team Members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A97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 </a:t>
                      </a:r>
                      <a:r>
                        <a:rPr lang="en-US" sz="1050" b="1" dirty="0">
                          <a:solidFill>
                            <a:srgbClr val="8A97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UPCOMING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4710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FedMedDx</a:t>
            </a: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Multi-Disease Representation Learning on Unified CXR    |    Slide 12 of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FEDMEDDX PROGRESS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Phase of Development: Immediate Deliverables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6811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8ED"/>
            </a:solidFill>
            <a:prstDash val="solid"/>
          </a:ln>
          <a:effectLst>
            <a:outerShdw blurRad="101600" dist="25400" dir="5400000" algn="bl" rotWithShape="0">
              <a:srgbClr val="36517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91640"/>
            <a:ext cx="566928" cy="566928"/>
          </a:xfrm>
          <a:prstGeom prst="ellipse">
            <a:avLst/>
          </a:prstGeom>
          <a:solidFill>
            <a:srgbClr val="E85D3F"/>
          </a:solidFill>
          <a:ln/>
        </p:spPr>
      </p:sp>
      <p:pic>
        <p:nvPicPr>
          <p:cNvPr id="6" name="Image 0" descr="icons/wif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182770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65192" y="161848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C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2404872"/>
            <a:ext cx="4919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Multi-Machine LAN Testing (Day 9–10)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2880360"/>
            <a:ext cx="49194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Flower server on Jalpan's machine. Connect 4 student laptops over local Wi-Fi. Verify client connection handshakes, round synchronization, and zero connection dropouts.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90488" y="1417320"/>
            <a:ext cx="546811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8ED"/>
            </a:solidFill>
            <a:prstDash val="solid"/>
          </a:ln>
          <a:effectLst>
            <a:outerShdw blurRad="101600" dist="25400" dir="5400000" algn="bl" rotWithShape="0">
              <a:srgbClr val="365172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64808" y="1691640"/>
            <a:ext cx="566928" cy="566928"/>
          </a:xfrm>
          <a:prstGeom prst="ellipse">
            <a:avLst/>
          </a:prstGeom>
          <a:solidFill>
            <a:srgbClr val="E85D3F"/>
          </a:solidFill>
          <a:ln/>
        </p:spPr>
      </p:sp>
      <p:pic>
        <p:nvPicPr>
          <p:cNvPr id="12" name="Image 1" descr="icons/chart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871" y="1827703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652760" y="161848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C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6464808" y="2404872"/>
            <a:ext cx="4919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Non-IID Dirichlet Sweep (Day 11–12)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464808" y="2880360"/>
            <a:ext cx="49194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model convergence and robustness across extreme non-IID data distributions (Dirichlet concentration alpha = 0.1 vs 0.5 vs 1.0) and measure accuracy stability.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02920" y="4005072"/>
            <a:ext cx="546811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8ED"/>
            </a:solidFill>
            <a:prstDash val="solid"/>
          </a:ln>
          <a:effectLst>
            <a:outerShdw blurRad="101600" dist="25400" dir="5400000" algn="bl" rotWithShape="0">
              <a:srgbClr val="365172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77240" y="4279392"/>
            <a:ext cx="566928" cy="566928"/>
          </a:xfrm>
          <a:prstGeom prst="ellipse">
            <a:avLst/>
          </a:prstGeom>
          <a:solidFill>
            <a:srgbClr val="E85D3F"/>
          </a:solidFill>
          <a:ln/>
        </p:spPr>
      </p:sp>
      <p:pic>
        <p:nvPicPr>
          <p:cNvPr id="18" name="Image 2" descr="icons/ey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303" y="4415455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65192" y="42062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C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5"/>
          <p:cNvSpPr/>
          <p:nvPr/>
        </p:nvSpPr>
        <p:spPr>
          <a:xfrm>
            <a:off x="777240" y="4992624"/>
            <a:ext cx="4919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Pathological Validation (Day 11–12)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777240" y="5468112"/>
            <a:ext cx="49194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and visually inspect Grad-CAM heatmaps across test scans to confirm the model attends to true radiological abnormalities rather than corner artifacts.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190488" y="4005072"/>
            <a:ext cx="546811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8ED"/>
            </a:solidFill>
            <a:prstDash val="solid"/>
          </a:ln>
          <a:effectLst>
            <a:outerShdw blurRad="101600" dist="25400" dir="5400000" algn="bl" rotWithShape="0">
              <a:srgbClr val="365172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64808" y="4279392"/>
            <a:ext cx="566928" cy="566928"/>
          </a:xfrm>
          <a:prstGeom prst="ellipse">
            <a:avLst/>
          </a:prstGeom>
          <a:solidFill>
            <a:srgbClr val="E85D3F"/>
          </a:solidFill>
          <a:ln/>
        </p:spPr>
      </p:sp>
      <p:pic>
        <p:nvPicPr>
          <p:cNvPr id="24" name="Image 3" descr="icons/deskto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871" y="4415455"/>
            <a:ext cx="294803" cy="29480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652760" y="42062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C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6" name="Text 20"/>
          <p:cNvSpPr/>
          <p:nvPr/>
        </p:nvSpPr>
        <p:spPr>
          <a:xfrm>
            <a:off x="6464808" y="4992624"/>
            <a:ext cx="4919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Streamlit Demo (Day 13–14)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6464808" y="5468112"/>
            <a:ext cx="49194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clinician demo interface allowing users to upload a CXR image, select a hospital diagnostic model, view classification confidence, and inspect the Grad-CAM heatmap.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57200" y="654710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FedMedDx</a:t>
            </a: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Multi-Disease Representation Learning on Unified CXR    |    Slide 13 of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FEDMEDDX PROGRESS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Verification &amp; Pipeline Integrity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6811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8ED"/>
            </a:solidFill>
            <a:prstDash val="solid"/>
          </a:ln>
          <a:effectLst>
            <a:outerShdw blurRad="101600" dist="25400" dir="5400000" algn="bl" rotWithShape="0">
              <a:srgbClr val="36517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91640"/>
            <a:ext cx="566928" cy="566928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6" name="Image 0" descr="icons/fl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1827703"/>
            <a:ext cx="294803" cy="29480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919472" y="1709928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E6F3F2"/>
          </a:solidFill>
          <a:ln w="12700">
            <a:solidFill>
              <a:srgbClr val="0E83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9472" y="1709928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77240" y="2404872"/>
            <a:ext cx="4919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Simulation Verified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2862072"/>
            <a:ext cx="49194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executed a multi-round sequential simulation on run_fedavg.py across virtual hospital partitions with zero runtime exceptions.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90488" y="1417320"/>
            <a:ext cx="546811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8ED"/>
            </a:solidFill>
            <a:prstDash val="solid"/>
          </a:ln>
          <a:effectLst>
            <a:outerShdw blurRad="101600" dist="25400" dir="5400000" algn="bl" rotWithShape="0">
              <a:srgbClr val="365172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64808" y="1691640"/>
            <a:ext cx="566928" cy="566928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13" name="Image 1" descr="icons/cub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871" y="1827703"/>
            <a:ext cx="294803" cy="294803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607040" y="1709928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E6F3F2"/>
          </a:solidFill>
          <a:ln w="12700">
            <a:solidFill>
              <a:srgbClr val="0E838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607040" y="1709928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464808" y="2404872"/>
            <a:ext cx="4919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Module Tests Passing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464808" y="2862072"/>
            <a:ext cx="49194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disease modules (covid, pneumonia, tb, pediatric) pass standalone CONTRACT.md verification with synthetic test batches.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02920" y="4005072"/>
            <a:ext cx="546811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8ED"/>
            </a:solidFill>
            <a:prstDash val="solid"/>
          </a:ln>
          <a:effectLst>
            <a:outerShdw blurRad="101600" dist="25400" dir="5400000" algn="bl" rotWithShape="0">
              <a:srgbClr val="365172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77240" y="4279392"/>
            <a:ext cx="566928" cy="566928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20" name="Image 2" descr="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303" y="4415455"/>
            <a:ext cx="294803" cy="294803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4919472" y="429768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E6F3F2"/>
          </a:solidFill>
          <a:ln w="12700">
            <a:solidFill>
              <a:srgbClr val="0E838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919472" y="4297680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777240" y="4992624"/>
            <a:ext cx="4919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Database Populated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777240" y="5449824"/>
            <a:ext cx="49194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 results/fedmeddx_experiments.db confirmed active — correctly records experiment_runs, round_metrics, and hospital_distributions.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190488" y="4005072"/>
            <a:ext cx="546811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8ED"/>
            </a:solidFill>
            <a:prstDash val="solid"/>
          </a:ln>
          <a:effectLst>
            <a:outerShdw blurRad="101600" dist="25400" dir="5400000" algn="bl" rotWithShape="0">
              <a:srgbClr val="365172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464808" y="4279392"/>
            <a:ext cx="566928" cy="566928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27" name="Image 3" descr="icons/microchi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871" y="4415455"/>
            <a:ext cx="294803" cy="294803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10607040" y="429768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E6F3F2"/>
          </a:solidFill>
          <a:ln w="12700">
            <a:solidFill>
              <a:srgbClr val="0E8388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10607040" y="4297680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6464808" y="4992624"/>
            <a:ext cx="4919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VRAM Management Verified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6464808" y="5449824"/>
            <a:ext cx="49194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torch.cuda.empty_cache() integration confirmed; prevents memory leaks across sequential client evaluation rounds on consumer GPU hardware.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457200" y="654710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FedMedDx</a:t>
            </a: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Multi-Disease Representation Learning on Unified CXR    |    Slide 14 of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FEDMEDDX PROGRESS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and 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6811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8ED"/>
            </a:solidFill>
            <a:prstDash val="solid"/>
          </a:ln>
          <a:effectLst>
            <a:outerShdw blurRad="101600" dist="25400" dir="5400000" algn="bl" rotWithShape="0">
              <a:srgbClr val="36517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91640"/>
            <a:ext cx="566928" cy="566928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6" name="Image 0" descr="icons/project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182770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42232" y="174650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kern="0" spc="1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01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77240" y="2404872"/>
            <a:ext cx="4919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Solves Heterogeneity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2880360"/>
            <a:ext cx="49194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Decoupling the ResNet-18 backbone from private classification heads allows hospitals with completely different disease tasks to collaborate without tensor dimension crashes.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90488" y="1417320"/>
            <a:ext cx="546811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8ED"/>
            </a:solidFill>
            <a:prstDash val="solid"/>
          </a:ln>
          <a:effectLst>
            <a:outerShdw blurRad="101600" dist="25400" dir="5400000" algn="bl" rotWithShape="0">
              <a:srgbClr val="365172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64808" y="1691640"/>
            <a:ext cx="566928" cy="566928"/>
          </a:xfrm>
          <a:prstGeom prst="ellipse">
            <a:avLst/>
          </a:prstGeom>
          <a:solidFill>
            <a:srgbClr val="E85D3F"/>
          </a:solidFill>
          <a:ln/>
        </p:spPr>
      </p:sp>
      <p:pic>
        <p:nvPicPr>
          <p:cNvPr id="12" name="Image 1" descr="icons/waveSqu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871" y="1827703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829800" y="174650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kern="0" spc="1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02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6464808" y="2404872"/>
            <a:ext cx="4919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FedBN Eliminates Scanner Drift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464808" y="2880360"/>
            <a:ext cx="49194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batch-normalization layers local prevents image contrast and scanner-noise differences across clinical centers from corrupting shared representation learning.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02920" y="4005072"/>
            <a:ext cx="546811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8ED"/>
            </a:solidFill>
            <a:prstDash val="solid"/>
          </a:ln>
          <a:effectLst>
            <a:outerShdw blurRad="101600" dist="25400" dir="5400000" algn="bl" rotWithShape="0">
              <a:srgbClr val="365172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77240" y="4279392"/>
            <a:ext cx="566928" cy="566928"/>
          </a:xfrm>
          <a:prstGeom prst="ellipse">
            <a:avLst/>
          </a:prstGeom>
          <a:solidFill>
            <a:srgbClr val="0E8388"/>
          </a:solidFill>
          <a:ln/>
        </p:spPr>
      </p:sp>
      <p:pic>
        <p:nvPicPr>
          <p:cNvPr id="18" name="Image 2" descr="icons/shieldA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303" y="4415455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142232" y="433425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kern="0" spc="1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03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777240" y="4992624"/>
            <a:ext cx="4919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Privacy &amp; Zero Data Leakage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777240" y="5468112"/>
            <a:ext cx="49194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patient chest X-rays never leave hospital nodes. Only abstract convolutional feature weights are exchanged over the network.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190488" y="4005072"/>
            <a:ext cx="546811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8ED"/>
            </a:solidFill>
            <a:prstDash val="solid"/>
          </a:ln>
          <a:effectLst>
            <a:outerShdw blurRad="101600" dist="25400" dir="5400000" algn="bl" rotWithShape="0">
              <a:srgbClr val="365172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64808" y="4279392"/>
            <a:ext cx="566928" cy="566928"/>
          </a:xfrm>
          <a:prstGeom prst="ellipse">
            <a:avLst/>
          </a:prstGeom>
          <a:solidFill>
            <a:srgbClr val="E85D3F"/>
          </a:solidFill>
          <a:ln/>
        </p:spPr>
      </p:sp>
      <p:pic>
        <p:nvPicPr>
          <p:cNvPr id="24" name="Image 3" descr="icons/rock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871" y="4415455"/>
            <a:ext cx="294803" cy="29480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829800" y="433425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kern="0" spc="1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04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6464808" y="4992624"/>
            <a:ext cx="4919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 14-Day Delivery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6464808" y="5468112"/>
            <a:ext cx="49194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federated core, modular pipelines, contract specifications, and issue tracking are fully established, ensuring on-time delivery for the final demonstration.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57200" y="654710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FedMedDx</a:t>
            </a: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Multi-Disease Representation Learning on Unified CXR    |    Slide 15 of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E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FEDMEDDX PROGRESS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Risks and Engineering Mitigations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183112" cy="4663440"/>
        </p:xfrm>
        <a:graphic>
          <a:graphicData uri="http://schemas.openxmlformats.org/drawingml/2006/table">
            <a:tbl>
              <a:tblPr/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3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Identified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Actionable Engineering Mitigation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Campus Wi-Fi firewall blocks gRPC port 8080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5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99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Fallback to local mobile hotspot or single-machine multi-process simulation via run_fedavg.py.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 GPU VRAM exhaustion during training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99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99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 torch.cuda.empty_cache() per round; batch size reduced to 16/32 with gradient accumulation.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Extreme non-IID label skew causes divergence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99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E83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FedRep alternating optimization separates head training from representation update, stabilizing training.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class imbalance (e.g. COVID 4-class)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E83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5D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 class-weighted CrossEntropyLoss with inverse-frequency weights in disease modules.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dropout / network latency spikes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99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E83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Flower server configured with configurable min_fit_clients and fault-tolerant round aggregation.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4710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FedMedDx</a:t>
            </a: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Multi-Disease Representation Learning on Unified CXR    |    Slide 16 of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6"/>
          <p:cNvSpPr/>
          <p:nvPr/>
        </p:nvSpPr>
        <p:spPr>
          <a:xfrm>
            <a:off x="1699260" y="246888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1699260" y="30632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E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FedMedDx: Multi-Disease Representation Learning on Unified Chest Radiography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827292" y="3566160"/>
            <a:ext cx="457200" cy="457200"/>
          </a:xfrm>
          <a:prstGeom prst="ellipse">
            <a:avLst/>
          </a:prstGeom>
          <a:solidFill>
            <a:srgbClr val="1F3554"/>
          </a:solidFill>
          <a:ln/>
        </p:spPr>
      </p:sp>
      <p:pic>
        <p:nvPicPr>
          <p:cNvPr id="15" name="Image 1" descr="icons/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0162" y="3669030"/>
            <a:ext cx="251460" cy="2514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21652" y="3566160"/>
            <a:ext cx="40936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  </a:t>
            </a:r>
            <a:r>
              <a:rPr lang="en-US" sz="1400" dirty="0">
                <a:solidFill>
                  <a:srgbClr val="5FD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github.com/Jalpan04/FedMedDx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57200" y="654710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FedMedDx</a:t>
            </a:r>
            <a:r>
              <a:rPr lang="en-US" sz="9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Multi-Disease Representation Learning on Unified CXR    |    Slide 17 of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2924</Words>
  <Application>Microsoft Office PowerPoint</Application>
  <PresentationFormat>Widescreen</PresentationFormat>
  <Paragraphs>388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jax</cp:lastModifiedBy>
  <cp:revision>5</cp:revision>
  <dcterms:created xsi:type="dcterms:W3CDTF">2026-08-19T02:48:40Z</dcterms:created>
  <dcterms:modified xsi:type="dcterms:W3CDTF">2026-08-19T03:32:21Z</dcterms:modified>
</cp:coreProperties>
</file>